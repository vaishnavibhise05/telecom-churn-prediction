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Aptos" charset="1" panose="020B0004020202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05902"/>
            <a:ext cx="18301840" cy="10081098"/>
            <a:chOff x="0" y="0"/>
            <a:chExt cx="24402453" cy="13441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441414"/>
            </a:xfrm>
            <a:custGeom>
              <a:avLst/>
              <a:gdLst/>
              <a:ahLst/>
              <a:cxnLst/>
              <a:rect r="r" b="b" t="t" l="l"/>
              <a:pathLst>
                <a:path h="13441414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441414"/>
                  </a:lnTo>
                  <a:lnTo>
                    <a:pt x="0" y="13441414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03117" y="1509941"/>
            <a:ext cx="1509941" cy="1509941"/>
            <a:chOff x="0" y="0"/>
            <a:chExt cx="2013255" cy="20132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3204" cy="2013204"/>
            </a:xfrm>
            <a:custGeom>
              <a:avLst/>
              <a:gdLst/>
              <a:ahLst/>
              <a:cxnLst/>
              <a:rect r="r" b="b" t="t" l="l"/>
              <a:pathLst>
                <a:path h="2013204" w="2013204">
                  <a:moveTo>
                    <a:pt x="0" y="1006602"/>
                  </a:moveTo>
                  <a:cubicBezTo>
                    <a:pt x="0" y="450723"/>
                    <a:pt x="450723" y="0"/>
                    <a:pt x="1006602" y="0"/>
                  </a:cubicBezTo>
                  <a:cubicBezTo>
                    <a:pt x="1562481" y="0"/>
                    <a:pt x="2013204" y="450723"/>
                    <a:pt x="2013204" y="1006602"/>
                  </a:cubicBezTo>
                  <a:cubicBezTo>
                    <a:pt x="2013204" y="1562481"/>
                    <a:pt x="1562481" y="2013204"/>
                    <a:pt x="1006602" y="2013204"/>
                  </a:cubicBezTo>
                  <a:cubicBezTo>
                    <a:pt x="450723" y="2013204"/>
                    <a:pt x="0" y="1562608"/>
                    <a:pt x="0" y="1006602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962127" y="2745343"/>
            <a:ext cx="754971" cy="754971"/>
            <a:chOff x="0" y="0"/>
            <a:chExt cx="1006627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3AB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79519" y="4392549"/>
            <a:ext cx="960872" cy="960872"/>
            <a:chOff x="0" y="0"/>
            <a:chExt cx="1281163" cy="12811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176" cy="1281176"/>
            </a:xfrm>
            <a:custGeom>
              <a:avLst/>
              <a:gdLst/>
              <a:ahLst/>
              <a:cxnLst/>
              <a:rect r="r" b="b" t="t" l="l"/>
              <a:pathLst>
                <a:path h="1281176" w="1281176">
                  <a:moveTo>
                    <a:pt x="0" y="640588"/>
                  </a:moveTo>
                  <a:cubicBezTo>
                    <a:pt x="0" y="286766"/>
                    <a:pt x="286766" y="0"/>
                    <a:pt x="640588" y="0"/>
                  </a:cubicBezTo>
                  <a:cubicBezTo>
                    <a:pt x="994410" y="0"/>
                    <a:pt x="1281176" y="286766"/>
                    <a:pt x="1281176" y="640588"/>
                  </a:cubicBezTo>
                  <a:cubicBezTo>
                    <a:pt x="1281176" y="994410"/>
                    <a:pt x="994410" y="1281176"/>
                    <a:pt x="640588" y="1281176"/>
                  </a:cubicBezTo>
                  <a:cubicBezTo>
                    <a:pt x="286766" y="1281176"/>
                    <a:pt x="0" y="994410"/>
                    <a:pt x="0" y="640588"/>
                  </a:cubicBezTo>
                  <a:close/>
                </a:path>
              </a:pathLst>
            </a:custGeom>
            <a:solidFill>
              <a:srgbClr val="3ABE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648470" y="5765225"/>
            <a:ext cx="1372676" cy="1372676"/>
            <a:chOff x="0" y="0"/>
            <a:chExt cx="1830235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0324" cy="1830324"/>
            </a:xfrm>
            <a:custGeom>
              <a:avLst/>
              <a:gdLst/>
              <a:ahLst/>
              <a:cxnLst/>
              <a:rect r="r" b="b" t="t" l="l"/>
              <a:pathLst>
                <a:path h="1830324" w="1830324">
                  <a:moveTo>
                    <a:pt x="0" y="915162"/>
                  </a:moveTo>
                  <a:cubicBezTo>
                    <a:pt x="0" y="409702"/>
                    <a:pt x="409702" y="0"/>
                    <a:pt x="915162" y="0"/>
                  </a:cubicBezTo>
                  <a:cubicBezTo>
                    <a:pt x="1420622" y="0"/>
                    <a:pt x="1830324" y="409702"/>
                    <a:pt x="1830324" y="915162"/>
                  </a:cubicBezTo>
                  <a:cubicBezTo>
                    <a:pt x="1830324" y="1420622"/>
                    <a:pt x="1420622" y="1830324"/>
                    <a:pt x="915162" y="1830324"/>
                  </a:cubicBezTo>
                  <a:cubicBezTo>
                    <a:pt x="409702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177657" y="7000627"/>
            <a:ext cx="617706" cy="617706"/>
            <a:chOff x="0" y="0"/>
            <a:chExt cx="823608" cy="823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F59B4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72068" y="1372676"/>
            <a:ext cx="480431" cy="480431"/>
            <a:chOff x="0" y="0"/>
            <a:chExt cx="640575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3ABED2"/>
            </a:solidFill>
          </p:spPr>
        </p:sp>
      </p:grpSp>
      <p:sp>
        <p:nvSpPr>
          <p:cNvPr name="AutoShape 16" id="16"/>
          <p:cNvSpPr/>
          <p:nvPr/>
        </p:nvSpPr>
        <p:spPr>
          <a:xfrm rot="1624860">
            <a:off x="13535263" y="2667190"/>
            <a:ext cx="1892865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6794820">
            <a:off x="11827497" y="3662372"/>
            <a:ext cx="2357152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530540">
            <a:off x="12342371" y="5584117"/>
            <a:ext cx="4072747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4384680">
            <a:off x="14221844" y="4794828"/>
            <a:ext cx="3196409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-1137360">
            <a:off x="13635723" y="6853838"/>
            <a:ext cx="2652808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62834" y="2008661"/>
            <a:ext cx="10651979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3ABED2"/>
                </a:solidFill>
                <a:latin typeface="Aptos Bold"/>
                <a:ea typeface="Aptos Bold"/>
                <a:cs typeface="Aptos Bold"/>
                <a:sym typeface="Aptos Bold"/>
              </a:rPr>
              <a:t>TELECOM CUSTOMER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2834" y="2900896"/>
            <a:ext cx="10926518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CHURN PREDICTION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834" y="4905375"/>
            <a:ext cx="92793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b="true" sz="3302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GroupName:CodeCrafter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0581" y="4154424"/>
            <a:ext cx="92793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        Using Machine Learning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572125"/>
            <a:ext cx="8980352" cy="286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3196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Team Members:Vaishnavi  Bhise(2124UDSF1006)</a:t>
            </a:r>
          </a:p>
          <a:p>
            <a:pPr algn="l">
              <a:lnSpc>
                <a:spcPts val="3835"/>
              </a:lnSpc>
            </a:pPr>
            <a:r>
              <a:rPr lang="en-US" sz="3196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                                     Srushti Jamdar(2124UDSF1030)</a:t>
            </a:r>
          </a:p>
          <a:p>
            <a:pPr algn="l">
              <a:lnSpc>
                <a:spcPts val="3835"/>
              </a:lnSpc>
            </a:pPr>
            <a:r>
              <a:rPr lang="en-US" sz="3196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                                   Pranjal Dhamane(2124UDSF1035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627858"/>
            <a:ext cx="927931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Department:TY-AIDS(A)</a:t>
            </a:r>
          </a:p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Academic year:2026-2027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667" y="361455"/>
            <a:ext cx="15868136" cy="8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Introduction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235" y="9773431"/>
            <a:ext cx="16472068" cy="48044"/>
            <a:chOff x="0" y="0"/>
            <a:chExt cx="21962758" cy="64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45" cy="64008"/>
            </a:xfrm>
            <a:custGeom>
              <a:avLst/>
              <a:gdLst/>
              <a:ahLst/>
              <a:cxnLst/>
              <a:rect r="r" b="b" t="t" l="l"/>
              <a:pathLst>
                <a:path h="6400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3ABED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25569" y="2145935"/>
            <a:ext cx="8181175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What is customer churn?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5569" y="2873445"/>
            <a:ext cx="8181175" cy="161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Customer churn happens when a customer stops using a telecom company’s services or switches to another provider.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81993" y="2257758"/>
            <a:ext cx="7083562" cy="6534493"/>
            <a:chOff x="0" y="0"/>
            <a:chExt cx="9444749" cy="8712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44736" cy="8712581"/>
            </a:xfrm>
            <a:custGeom>
              <a:avLst/>
              <a:gdLst/>
              <a:ahLst/>
              <a:cxnLst/>
              <a:rect r="r" b="b" t="t" l="l"/>
              <a:pathLst>
                <a:path h="8712581" w="9444736">
                  <a:moveTo>
                    <a:pt x="0" y="1452118"/>
                  </a:moveTo>
                  <a:cubicBezTo>
                    <a:pt x="0" y="650113"/>
                    <a:pt x="650113" y="0"/>
                    <a:pt x="1452118" y="0"/>
                  </a:cubicBezTo>
                  <a:lnTo>
                    <a:pt x="7992618" y="0"/>
                  </a:lnTo>
                  <a:cubicBezTo>
                    <a:pt x="8794623" y="0"/>
                    <a:pt x="9444736" y="650113"/>
                    <a:pt x="9444736" y="1452118"/>
                  </a:cubicBezTo>
                  <a:lnTo>
                    <a:pt x="9444736" y="7260463"/>
                  </a:lnTo>
                  <a:cubicBezTo>
                    <a:pt x="9444736" y="8062468"/>
                    <a:pt x="8794623" y="8712581"/>
                    <a:pt x="7992618" y="8712581"/>
                  </a:cubicBezTo>
                  <a:lnTo>
                    <a:pt x="1452118" y="8712581"/>
                  </a:lnTo>
                  <a:cubicBezTo>
                    <a:pt x="650113" y="8712708"/>
                    <a:pt x="0" y="8062468"/>
                    <a:pt x="0" y="7260463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597010" y="2695004"/>
            <a:ext cx="6122165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WHY DO CUSTOMERS LEAVE?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679392" y="3637578"/>
            <a:ext cx="480431" cy="480431"/>
            <a:chOff x="0" y="0"/>
            <a:chExt cx="640575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59B41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489246" y="3628415"/>
            <a:ext cx="4886754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High bills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79392" y="4708265"/>
            <a:ext cx="480431" cy="480431"/>
            <a:chOff x="0" y="0"/>
            <a:chExt cx="640575" cy="640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489246" y="4699102"/>
            <a:ext cx="4886754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Poor network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679392" y="5778951"/>
            <a:ext cx="480431" cy="480431"/>
            <a:chOff x="0" y="0"/>
            <a:chExt cx="640575" cy="6405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3ABE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89246" y="5769788"/>
            <a:ext cx="4886754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Bad customer service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679392" y="6849637"/>
            <a:ext cx="480431" cy="480431"/>
            <a:chOff x="0" y="0"/>
            <a:chExt cx="640575" cy="640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6E82A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489246" y="6840474"/>
            <a:ext cx="4886754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Better competitor offer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66774" y="5312245"/>
            <a:ext cx="178451" cy="178451"/>
            <a:chOff x="0" y="0"/>
            <a:chExt cx="237934" cy="2379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578550" y="5165808"/>
            <a:ext cx="7522283" cy="85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Machine learning can identify customers who may leave.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66774" y="6547647"/>
            <a:ext cx="178451" cy="178451"/>
            <a:chOff x="0" y="0"/>
            <a:chExt cx="237934" cy="2379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78550" y="6401219"/>
            <a:ext cx="7659557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Companies can contact these customers and offer suitable support.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667" y="361455"/>
            <a:ext cx="15868136" cy="8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 &amp;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235" y="9773431"/>
            <a:ext cx="16472068" cy="48044"/>
            <a:chOff x="0" y="0"/>
            <a:chExt cx="21962758" cy="64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45" cy="64008"/>
            </a:xfrm>
            <a:custGeom>
              <a:avLst/>
              <a:gdLst/>
              <a:ahLst/>
              <a:cxnLst/>
              <a:rect r="r" b="b" t="t" l="l"/>
              <a:pathLst>
                <a:path h="6400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3ABE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127647"/>
            <a:ext cx="16128902" cy="1715843"/>
            <a:chOff x="0" y="0"/>
            <a:chExt cx="21505202" cy="2287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05165" cy="2287778"/>
            </a:xfrm>
            <a:custGeom>
              <a:avLst/>
              <a:gdLst/>
              <a:ahLst/>
              <a:cxnLst/>
              <a:rect r="r" b="b" t="t" l="l"/>
              <a:pathLst>
                <a:path h="2287778" w="21505165">
                  <a:moveTo>
                    <a:pt x="0" y="381254"/>
                  </a:moveTo>
                  <a:cubicBezTo>
                    <a:pt x="0" y="170688"/>
                    <a:pt x="170688" y="0"/>
                    <a:pt x="381254" y="0"/>
                  </a:cubicBezTo>
                  <a:lnTo>
                    <a:pt x="21123911" y="0"/>
                  </a:lnTo>
                  <a:cubicBezTo>
                    <a:pt x="21334476" y="0"/>
                    <a:pt x="21505165" y="170688"/>
                    <a:pt x="21505165" y="381254"/>
                  </a:cubicBezTo>
                  <a:lnTo>
                    <a:pt x="21505165" y="1906524"/>
                  </a:lnTo>
                  <a:cubicBezTo>
                    <a:pt x="21505165" y="2117090"/>
                    <a:pt x="21334476" y="2287778"/>
                    <a:pt x="21123911" y="2287778"/>
                  </a:cubicBezTo>
                  <a:lnTo>
                    <a:pt x="381254" y="2287778"/>
                  </a:lnTo>
                  <a:cubicBezTo>
                    <a:pt x="170688" y="2287778"/>
                    <a:pt x="0" y="2117090"/>
                    <a:pt x="0" y="1906524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06001" y="2452116"/>
            <a:ext cx="3582714" cy="412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ABED2"/>
                </a:solidFill>
                <a:latin typeface="Aptos Bold"/>
                <a:ea typeface="Aptos Bold"/>
                <a:cs typeface="Aptos Bold"/>
                <a:sym typeface="Aptos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0422" y="2420464"/>
            <a:ext cx="11475587" cy="85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Telecom companies need to identify customers who are likely to leave before they churn.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2834" y="4410837"/>
            <a:ext cx="7494832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PROJECT OBJECTIVES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8258" y="5414905"/>
            <a:ext cx="5161817" cy="2896914"/>
            <a:chOff x="0" y="0"/>
            <a:chExt cx="6882422" cy="38625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238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88238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238621" y="0"/>
                  </a:lnTo>
                  <a:cubicBezTo>
                    <a:pt x="6594222" y="0"/>
                    <a:pt x="6882384" y="288163"/>
                    <a:pt x="6882384" y="643763"/>
                  </a:cubicBezTo>
                  <a:lnTo>
                    <a:pt x="6882384" y="3218815"/>
                  </a:lnTo>
                  <a:cubicBezTo>
                    <a:pt x="6882384" y="3574415"/>
                    <a:pt x="6594221" y="3862578"/>
                    <a:pt x="623862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606001" y="5783513"/>
            <a:ext cx="837371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9B41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6001" y="6401219"/>
            <a:ext cx="4337685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Predict churn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6001" y="7119204"/>
            <a:ext cx="4337685" cy="90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Find customers who may stop using the service.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924846" y="5414905"/>
            <a:ext cx="5161817" cy="2896914"/>
            <a:chOff x="0" y="0"/>
            <a:chExt cx="6882422" cy="38625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8238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88238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238621" y="0"/>
                  </a:lnTo>
                  <a:cubicBezTo>
                    <a:pt x="6594222" y="0"/>
                    <a:pt x="6882384" y="288163"/>
                    <a:pt x="6882384" y="643763"/>
                  </a:cubicBezTo>
                  <a:lnTo>
                    <a:pt x="6882384" y="3218815"/>
                  </a:lnTo>
                  <a:cubicBezTo>
                    <a:pt x="6882384" y="3574415"/>
                    <a:pt x="6594221" y="3862578"/>
                    <a:pt x="623862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302598" y="5783513"/>
            <a:ext cx="837371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9B41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02598" y="6401219"/>
            <a:ext cx="4337685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Find key factors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02598" y="7119204"/>
            <a:ext cx="4337685" cy="90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Understand the role of charges, tenure and service issues.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621435" y="5414905"/>
            <a:ext cx="5161817" cy="2896914"/>
            <a:chOff x="0" y="0"/>
            <a:chExt cx="6882422" cy="38625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82384" cy="3862578"/>
            </a:xfrm>
            <a:custGeom>
              <a:avLst/>
              <a:gdLst/>
              <a:ahLst/>
              <a:cxnLst/>
              <a:rect r="r" b="b" t="t" l="l"/>
              <a:pathLst>
                <a:path h="3862578" w="6882384">
                  <a:moveTo>
                    <a:pt x="0" y="643763"/>
                  </a:moveTo>
                  <a:cubicBezTo>
                    <a:pt x="0" y="288163"/>
                    <a:pt x="288163" y="0"/>
                    <a:pt x="643763" y="0"/>
                  </a:cubicBezTo>
                  <a:lnTo>
                    <a:pt x="6238621" y="0"/>
                  </a:lnTo>
                  <a:cubicBezTo>
                    <a:pt x="6594222" y="0"/>
                    <a:pt x="6882384" y="288163"/>
                    <a:pt x="6882384" y="643763"/>
                  </a:cubicBezTo>
                  <a:lnTo>
                    <a:pt x="6882384" y="3218815"/>
                  </a:lnTo>
                  <a:cubicBezTo>
                    <a:pt x="6882384" y="3574415"/>
                    <a:pt x="6594221" y="3862578"/>
                    <a:pt x="6238621" y="3862578"/>
                  </a:cubicBezTo>
                  <a:lnTo>
                    <a:pt x="643763" y="3862578"/>
                  </a:lnTo>
                  <a:cubicBezTo>
                    <a:pt x="288163" y="3862578"/>
                    <a:pt x="0" y="3574415"/>
                    <a:pt x="0" y="321881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999187" y="5783513"/>
            <a:ext cx="837371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9B41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99187" y="6401219"/>
            <a:ext cx="4337685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Improve retention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99187" y="7119204"/>
            <a:ext cx="4337685" cy="90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Help the company take action to keep customers.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667" y="361455"/>
            <a:ext cx="15868136" cy="8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Dataset &amp; Important Features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235" y="9773431"/>
            <a:ext cx="16472068" cy="48044"/>
            <a:chOff x="0" y="0"/>
            <a:chExt cx="21962758" cy="64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45" cy="64008"/>
            </a:xfrm>
            <a:custGeom>
              <a:avLst/>
              <a:gdLst/>
              <a:ahLst/>
              <a:cxnLst/>
              <a:rect r="r" b="b" t="t" l="l"/>
              <a:pathLst>
                <a:path h="6400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3ABED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4206" y="2008661"/>
            <a:ext cx="15730871" cy="71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The dataset contains information about customers and whether they left the company.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8258" y="3081366"/>
            <a:ext cx="7769895" cy="1455601"/>
            <a:chOff x="0" y="0"/>
            <a:chExt cx="10359860" cy="19408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6001" y="3326425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Tenure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51353" y="3289449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How long the customer has stayed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70190" y="3081366"/>
            <a:ext cx="7769895" cy="1455601"/>
            <a:chOff x="0" y="0"/>
            <a:chExt cx="10359860" cy="19408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0047942" y="3326425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Monthly charges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93285" y="3289449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Amount billed each month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8258" y="4934474"/>
            <a:ext cx="7769895" cy="1455601"/>
            <a:chOff x="0" y="0"/>
            <a:chExt cx="10359860" cy="1940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606001" y="5179533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Contract type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51353" y="5142557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Monthly, one-year or two-year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70190" y="4934474"/>
            <a:ext cx="7769895" cy="1455601"/>
            <a:chOff x="0" y="0"/>
            <a:chExt cx="10359860" cy="19408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047942" y="5179533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Internet service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93285" y="5142557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Type of internet plan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28258" y="6787582"/>
            <a:ext cx="7769895" cy="1455601"/>
            <a:chOff x="0" y="0"/>
            <a:chExt cx="10359860" cy="19408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606001" y="7032641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Customer support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51353" y="6995665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Service issues or support history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70190" y="6787582"/>
            <a:ext cx="7769895" cy="1455601"/>
            <a:chOff x="0" y="0"/>
            <a:chExt cx="10359860" cy="19408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59898" cy="1940814"/>
            </a:xfrm>
            <a:custGeom>
              <a:avLst/>
              <a:gdLst/>
              <a:ahLst/>
              <a:cxnLst/>
              <a:rect r="r" b="b" t="t" l="l"/>
              <a:pathLst>
                <a:path h="1940814" w="1035989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10036428" y="0"/>
                  </a:lnTo>
                  <a:cubicBezTo>
                    <a:pt x="10215118" y="0"/>
                    <a:pt x="10359898" y="144780"/>
                    <a:pt x="10359898" y="323469"/>
                  </a:cubicBezTo>
                  <a:lnTo>
                    <a:pt x="10359898" y="1617345"/>
                  </a:lnTo>
                  <a:cubicBezTo>
                    <a:pt x="10359898" y="1796034"/>
                    <a:pt x="10215118" y="1940814"/>
                    <a:pt x="10036428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047942" y="7032641"/>
            <a:ext cx="3033646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Churn status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93285" y="6995665"/>
            <a:ext cx="4200420" cy="8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Yes = left, No = stayed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1471" y="8872023"/>
            <a:ext cx="11612851" cy="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Target variable: Churn (Yes / No)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667" y="361455"/>
            <a:ext cx="15868136" cy="8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Methodology &amp; Model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235" y="9773431"/>
            <a:ext cx="16472068" cy="48044"/>
            <a:chOff x="0" y="0"/>
            <a:chExt cx="21962758" cy="64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45" cy="64008"/>
            </a:xfrm>
            <a:custGeom>
              <a:avLst/>
              <a:gdLst/>
              <a:ahLst/>
              <a:cxnLst/>
              <a:rect r="r" b="b" t="t" l="l"/>
              <a:pathLst>
                <a:path h="6400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3ABE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88382" y="2745343"/>
            <a:ext cx="851059" cy="851059"/>
            <a:chOff x="0" y="0"/>
            <a:chExt cx="1134745" cy="11347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15814" y="2942082"/>
            <a:ext cx="79619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AutoShape 12" id="12"/>
          <p:cNvSpPr/>
          <p:nvPr/>
        </p:nvSpPr>
        <p:spPr>
          <a:xfrm rot="79080">
            <a:off x="2547614" y="3161348"/>
            <a:ext cx="1658322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782403" y="3999043"/>
            <a:ext cx="269047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Collect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677" y="4754004"/>
            <a:ext cx="3033646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Customer details and service usage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29882" y="2745343"/>
            <a:ext cx="851059" cy="851059"/>
            <a:chOff x="0" y="0"/>
            <a:chExt cx="1134745" cy="11347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257314" y="2942082"/>
            <a:ext cx="79619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AutoShape 18" id="18"/>
          <p:cNvSpPr/>
          <p:nvPr/>
        </p:nvSpPr>
        <p:spPr>
          <a:xfrm rot="79080">
            <a:off x="6089104" y="3161348"/>
            <a:ext cx="1658322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4323893" y="3999043"/>
            <a:ext cx="269047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Clean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59177" y="4754004"/>
            <a:ext cx="3033646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Handle missing values and encode categories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771372" y="2745343"/>
            <a:ext cx="851059" cy="851059"/>
            <a:chOff x="0" y="0"/>
            <a:chExt cx="1134745" cy="11347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798804" y="2942082"/>
            <a:ext cx="79619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AutoShape 24" id="24"/>
          <p:cNvSpPr/>
          <p:nvPr/>
        </p:nvSpPr>
        <p:spPr>
          <a:xfrm rot="79080">
            <a:off x="9630604" y="3161348"/>
            <a:ext cx="1658322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865393" y="3999043"/>
            <a:ext cx="269047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Train 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00667" y="4754004"/>
            <a:ext cx="3033646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Use a classification algorithm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12872" y="2745343"/>
            <a:ext cx="851059" cy="851059"/>
            <a:chOff x="0" y="0"/>
            <a:chExt cx="1134745" cy="11347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340304" y="2942082"/>
            <a:ext cx="79619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AutoShape 30" id="30"/>
          <p:cNvSpPr/>
          <p:nvPr/>
        </p:nvSpPr>
        <p:spPr>
          <a:xfrm rot="79080">
            <a:off x="13172094" y="3161348"/>
            <a:ext cx="1658322" cy="0"/>
          </a:xfrm>
          <a:prstGeom prst="line">
            <a:avLst/>
          </a:prstGeom>
          <a:ln cap="rnd" w="19050">
            <a:solidFill>
              <a:srgbClr val="3ABE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1406883" y="3999043"/>
            <a:ext cx="269047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Predict churn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42167" y="4754004"/>
            <a:ext cx="3033646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Estimate which customers may leave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54362" y="2745343"/>
            <a:ext cx="851059" cy="851059"/>
            <a:chOff x="0" y="0"/>
            <a:chExt cx="1134745" cy="11347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F59B4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881795" y="2942082"/>
            <a:ext cx="796195" cy="30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48383" y="3999043"/>
            <a:ext cx="269047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F2341"/>
                </a:solidFill>
                <a:latin typeface="Aptos Bold"/>
                <a:ea typeface="Aptos Bold"/>
                <a:cs typeface="Aptos Bold"/>
                <a:sym typeface="Aptos Bold"/>
              </a:rPr>
              <a:t>Evaluate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83657" y="4754004"/>
            <a:ext cx="3033646" cy="133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E82"/>
                </a:solidFill>
                <a:latin typeface="Aptos"/>
                <a:ea typeface="Aptos"/>
                <a:cs typeface="Aptos"/>
                <a:sym typeface="Aptos"/>
              </a:rPr>
              <a:t>Check accuracy, precision and recall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72676" y="7000627"/>
            <a:ext cx="15511196" cy="1441304"/>
            <a:chOff x="0" y="0"/>
            <a:chExt cx="20681594" cy="19217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681569" cy="1921764"/>
            </a:xfrm>
            <a:custGeom>
              <a:avLst/>
              <a:gdLst/>
              <a:ahLst/>
              <a:cxnLst/>
              <a:rect r="r" b="b" t="t" l="l"/>
              <a:pathLst>
                <a:path h="1921764" w="20681569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lnTo>
                    <a:pt x="20361275" y="0"/>
                  </a:lnTo>
                  <a:cubicBezTo>
                    <a:pt x="20538187" y="0"/>
                    <a:pt x="20681569" y="143383"/>
                    <a:pt x="20681569" y="320294"/>
                  </a:cubicBezTo>
                  <a:lnTo>
                    <a:pt x="20681569" y="1601470"/>
                  </a:lnTo>
                  <a:cubicBezTo>
                    <a:pt x="20681569" y="1778381"/>
                    <a:pt x="20538187" y="1921764"/>
                    <a:pt x="20361275" y="1921764"/>
                  </a:cubicBezTo>
                  <a:lnTo>
                    <a:pt x="320294" y="1921764"/>
                  </a:lnTo>
                  <a:cubicBezTo>
                    <a:pt x="143383" y="1921764"/>
                    <a:pt x="0" y="1778381"/>
                    <a:pt x="0" y="1601470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880540" y="7362082"/>
            <a:ext cx="14495459" cy="58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Example model: Logistic Regression or Decision Tree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00108" y="8872023"/>
            <a:ext cx="15319067" cy="37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Tools: Python • Pandas • Scikit-learn • Matplotlib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50" y="-96079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DF4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578569"/>
            <a:chOff x="0" y="0"/>
            <a:chExt cx="24402453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104771"/>
            </a:xfrm>
            <a:custGeom>
              <a:avLst/>
              <a:gdLst/>
              <a:ahLst/>
              <a:cxnLst/>
              <a:rect r="r" b="b" t="t" l="l"/>
              <a:pathLst>
                <a:path h="21047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04771"/>
                  </a:lnTo>
                  <a:lnTo>
                    <a:pt x="0" y="2104771"/>
                  </a:ln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9667" y="361455"/>
            <a:ext cx="15868136" cy="814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Expected Outcome &amp; 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2235" y="9773431"/>
            <a:ext cx="16472068" cy="48044"/>
            <a:chOff x="0" y="0"/>
            <a:chExt cx="21962758" cy="64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45" cy="64008"/>
            </a:xfrm>
            <a:custGeom>
              <a:avLst/>
              <a:gdLst/>
              <a:ahLst/>
              <a:cxnLst/>
              <a:rect r="r" b="b" t="t" l="l"/>
              <a:pathLst>
                <a:path h="6400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3ABED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9621" y="2120494"/>
            <a:ext cx="7838532" cy="6671758"/>
            <a:chOff x="0" y="0"/>
            <a:chExt cx="10451376" cy="88956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51338" cy="8895588"/>
            </a:xfrm>
            <a:custGeom>
              <a:avLst/>
              <a:gdLst/>
              <a:ahLst/>
              <a:cxnLst/>
              <a:rect r="r" b="b" t="t" l="l"/>
              <a:pathLst>
                <a:path h="8895588" w="10451338">
                  <a:moveTo>
                    <a:pt x="0" y="1482598"/>
                  </a:moveTo>
                  <a:cubicBezTo>
                    <a:pt x="0" y="663829"/>
                    <a:pt x="663829" y="0"/>
                    <a:pt x="1482598" y="0"/>
                  </a:cubicBezTo>
                  <a:lnTo>
                    <a:pt x="8968740" y="0"/>
                  </a:lnTo>
                  <a:cubicBezTo>
                    <a:pt x="9787636" y="0"/>
                    <a:pt x="10451338" y="663829"/>
                    <a:pt x="10451338" y="1482598"/>
                  </a:cubicBezTo>
                  <a:lnTo>
                    <a:pt x="10451338" y="7412990"/>
                  </a:lnTo>
                  <a:cubicBezTo>
                    <a:pt x="10451338" y="8231886"/>
                    <a:pt x="9787509" y="8895588"/>
                    <a:pt x="8968740" y="8895588"/>
                  </a:cubicBezTo>
                  <a:lnTo>
                    <a:pt x="1482598" y="8895588"/>
                  </a:lnTo>
                  <a:cubicBezTo>
                    <a:pt x="663829" y="8895715"/>
                    <a:pt x="0" y="8231886"/>
                    <a:pt x="0" y="741299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7E4E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674638" y="2626366"/>
            <a:ext cx="6533960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2369B4"/>
                </a:solidFill>
                <a:latin typeface="Aptos Bold"/>
                <a:ea typeface="Aptos Bold"/>
                <a:cs typeface="Aptos Bold"/>
                <a:sym typeface="Aptos Bold"/>
              </a:rPr>
              <a:t>EXPECTED OUTCOME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7206" y="3802304"/>
            <a:ext cx="178451" cy="178451"/>
            <a:chOff x="0" y="0"/>
            <a:chExt cx="237934" cy="2379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058991" y="3655866"/>
            <a:ext cx="6149616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Identify customers at high risk of leaving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47206" y="4872990"/>
            <a:ext cx="178451" cy="178451"/>
            <a:chOff x="0" y="0"/>
            <a:chExt cx="237934" cy="2379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058991" y="4726553"/>
            <a:ext cx="6149616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Understand common churn factors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47206" y="5943676"/>
            <a:ext cx="178451" cy="178451"/>
            <a:chOff x="0" y="0"/>
            <a:chExt cx="237934" cy="237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58991" y="5797239"/>
            <a:ext cx="6149616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Support targeted retention offers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47206" y="7014353"/>
            <a:ext cx="178451" cy="178451"/>
            <a:chOff x="0" y="0"/>
            <a:chExt cx="237934" cy="2379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998" cy="237998"/>
            </a:xfrm>
            <a:custGeom>
              <a:avLst/>
              <a:gdLst/>
              <a:ahLst/>
              <a:cxnLst/>
              <a:rect r="r" b="b" t="t" l="l"/>
              <a:pathLst>
                <a:path h="237998" w="237998">
                  <a:moveTo>
                    <a:pt x="0" y="118999"/>
                  </a:moveTo>
                  <a:cubicBezTo>
                    <a:pt x="0" y="53213"/>
                    <a:pt x="53213" y="0"/>
                    <a:pt x="118999" y="0"/>
                  </a:cubicBezTo>
                  <a:cubicBezTo>
                    <a:pt x="184785" y="0"/>
                    <a:pt x="237998" y="53213"/>
                    <a:pt x="237998" y="118999"/>
                  </a:cubicBezTo>
                  <a:cubicBezTo>
                    <a:pt x="237998" y="184785"/>
                    <a:pt x="184785" y="237998"/>
                    <a:pt x="118999" y="237998"/>
                  </a:cubicBezTo>
                  <a:cubicBezTo>
                    <a:pt x="53213" y="237998"/>
                    <a:pt x="0" y="184658"/>
                    <a:pt x="0" y="118999"/>
                  </a:cubicBezTo>
                  <a:close/>
                </a:path>
              </a:pathLst>
            </a:custGeom>
            <a:solidFill>
              <a:srgbClr val="2369B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058991" y="6867925"/>
            <a:ext cx="6149616" cy="75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E2D3C"/>
                </a:solidFill>
                <a:latin typeface="Aptos"/>
                <a:ea typeface="Aptos"/>
                <a:cs typeface="Aptos"/>
                <a:sym typeface="Aptos"/>
              </a:rPr>
              <a:t>Improve customer satisfaction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71441" y="2127647"/>
            <a:ext cx="7618333" cy="6657461"/>
            <a:chOff x="0" y="0"/>
            <a:chExt cx="10157778" cy="88766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57714" cy="8876538"/>
            </a:xfrm>
            <a:custGeom>
              <a:avLst/>
              <a:gdLst/>
              <a:ahLst/>
              <a:cxnLst/>
              <a:rect r="r" b="b" t="t" l="l"/>
              <a:pathLst>
                <a:path h="8876538" w="10157714">
                  <a:moveTo>
                    <a:pt x="0" y="1479423"/>
                  </a:moveTo>
                  <a:cubicBezTo>
                    <a:pt x="0" y="662432"/>
                    <a:pt x="662432" y="0"/>
                    <a:pt x="1479423" y="0"/>
                  </a:cubicBezTo>
                  <a:lnTo>
                    <a:pt x="8678291" y="0"/>
                  </a:lnTo>
                  <a:cubicBezTo>
                    <a:pt x="9495410" y="0"/>
                    <a:pt x="10157714" y="662432"/>
                    <a:pt x="10157714" y="1479423"/>
                  </a:cubicBezTo>
                  <a:lnTo>
                    <a:pt x="10157714" y="7397115"/>
                  </a:lnTo>
                  <a:cubicBezTo>
                    <a:pt x="10157714" y="8214233"/>
                    <a:pt x="9495282" y="8876538"/>
                    <a:pt x="8678291" y="8876538"/>
                  </a:cubicBezTo>
                  <a:lnTo>
                    <a:pt x="1479423" y="8876538"/>
                  </a:lnTo>
                  <a:cubicBezTo>
                    <a:pt x="662432" y="8876665"/>
                    <a:pt x="0" y="8214233"/>
                    <a:pt x="0" y="7397115"/>
                  </a:cubicBezTo>
                  <a:close/>
                </a:path>
              </a:pathLst>
            </a:custGeom>
            <a:solidFill>
              <a:srgbClr val="0F234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116579" y="2695004"/>
            <a:ext cx="6396695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3ABED2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16579" y="3655866"/>
            <a:ext cx="6190793" cy="209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Machine learning can help telecom companies predict customer churn and take action before customers leave.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16579" y="6401219"/>
            <a:ext cx="6190793" cy="119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CDDCEB"/>
                </a:solidFill>
                <a:latin typeface="Aptos"/>
                <a:ea typeface="Aptos"/>
                <a:cs typeface="Aptos"/>
                <a:sym typeface="Aptos"/>
              </a:rPr>
              <a:t>The goal is not only to predict churn, but also to keep customers happy.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16579" y="7911151"/>
            <a:ext cx="6190793" cy="51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9B41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DAHY7XHwrfE</dc:identifier>
  <dcterms:modified xsi:type="dcterms:W3CDTF">2011-08-01T06:04:30Z</dcterms:modified>
  <cp:revision>1</cp:revision>
  <dc:title>Telecom_Customer_Churn_Prediction_6_Slides.pptx</dc:title>
</cp:coreProperties>
</file>